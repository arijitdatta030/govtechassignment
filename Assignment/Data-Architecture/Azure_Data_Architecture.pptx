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ED655C-6672-4494-A960-B51159E09394}" v="123" dt="2026-02-07T06:01:31.4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9" d="100"/>
          <a:sy n="59" d="100"/>
        </p:scale>
        <p:origin x="96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9C4E5-B537-FB6C-91AC-2711E52FB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948676-176C-0D18-930E-6F8B78DB5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EB655-540D-06C3-AB73-3BCFD840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226DB-997E-9F6B-89E8-BE8D6C75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E9100-5FC1-1B30-44D7-8FB369103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271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DE158-F969-1C3D-88BB-3A276814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C7498-E860-01B3-8596-C7150676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0E37A-7C7F-D19B-115F-EB943960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E191C-F5B3-E8A6-702F-C5A5C33D8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0B922-5613-AF6B-EBA2-D4875ABB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3171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5793-2FF3-31C1-F00F-C65139A5E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79640-5516-6C35-E714-58F2D05E8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05CDE-4F14-FF70-231E-D0F9E5EA1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8E944-F645-60EF-1246-3350A4E7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FDD9-2F64-F455-A2F4-A5E92A8A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5638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441F-1A33-4D99-A792-CCEB4E179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DBCE3-261D-A5E1-FEF8-F2AD57AB2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BA74A-A867-7E97-F008-620B40723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1FDE2-91A4-642B-1D2E-DE5E67171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B6C63-DD6E-F3F0-3D5A-DA8FB4FCB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90A68-9FB4-4E60-AED0-82FD26108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1959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6EAA7-1BEC-56B2-92B7-7BBCBD187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84F05-1535-80ED-161E-9A1646FAA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8C7F5-44B2-DFAD-6C6F-0224E8F68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7600-21C0-78CD-1B30-E314EA518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AD1B4-DA91-42DD-B856-F92EFED53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0C9093-4A53-D1A8-9A5E-715EE946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8B4393-B668-5D3D-31DC-85A18046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F986C-E3DB-3D27-05BB-5638B9DE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4268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C6A4-3D5E-677B-164E-0ABC7EFD7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7A9B1A-1ED9-F028-CF9A-41A65F2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D5EFFF-5786-F14C-D466-7544346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4CBA0-6254-A00E-AFB1-32E8CCB2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24123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6E697F-215D-FA81-5EAD-E11AED0F8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A6FF4-F6E0-11B6-FC36-531A52B2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3489E-2D7D-3563-1FCE-B7BF9B77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9974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A5B0-FA6A-4170-7A8F-1779D514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0128B-5F14-0FA3-BB77-8803E4A6DE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C01E2-EED9-74E1-DBF6-E26F261D1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75C32-1ECC-0928-2580-F76917BD1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CE31-1E10-8698-6AC2-A6DCB7F39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E59E6-2E8B-82AE-7DBD-F5B60F9C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7249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40DF-ECA1-D4BF-6C83-730B0C08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7408C3-0848-AE45-DEDB-163344DBB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CBB2C0-5FD4-35D8-3CF3-A831B802E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11114-02DA-A5B8-6D4D-6FA37F92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B80A6-2EE5-298A-5D23-48B0EAA4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844DF-8967-2CFA-94A8-5A03B373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2360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49358-14FC-8C1A-95A6-149629AB8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802D5-4852-D9E5-B511-2F67F8D65F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E563D-806D-BE23-9545-9F4A9B548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E29C5-DD6E-BFBF-FDAC-D8BD59B2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4557C-371B-02B7-FD00-88235926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32796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8AA5B8-E8AC-80D5-F343-6B0B91BED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35B3B-10F0-3DB7-6566-B12BCC1D9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9A3B4-74D5-2D01-E55D-AF2E9926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96FD5-BA4B-BBD8-0379-550B92C2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6B356-485A-575D-C95F-6A29B6EB0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3127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5D78C-28C1-5E94-D25A-2550B85B5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0AC4F8-ABB0-641E-E454-341638A01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51279-379A-AE95-830B-066348DB2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6EB3A-1513-4AE4-A476-95CC0EB9D019}" type="datetimeFigureOut">
              <a:rPr lang="en-SG" smtClean="0"/>
              <a:t>7/2/2026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D9E3-9D79-C319-D4DC-40C40BD9A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5502-C8DC-CA1E-A524-74B246053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8EFDE-7AE1-4C5C-8E15-4913C9C14B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373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zure Delta Lake - Monte Carlo Data">
            <a:extLst>
              <a:ext uri="{FF2B5EF4-FFF2-40B4-BE49-F238E27FC236}">
                <a16:creationId xmlns:a16="http://schemas.microsoft.com/office/drawing/2014/main" id="{3ADAF97E-68BA-FE87-AC44-0B1F68BC0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11" y="3599715"/>
            <a:ext cx="541891" cy="4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48E2D7E-F264-885B-811D-B83DE9671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779" y="1134424"/>
            <a:ext cx="669972" cy="57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zure Blob Storage vs Azure Data Lake ...">
            <a:extLst>
              <a:ext uri="{FF2B5EF4-FFF2-40B4-BE49-F238E27FC236}">
                <a16:creationId xmlns:a16="http://schemas.microsoft.com/office/drawing/2014/main" id="{83702F10-0D65-97C9-AF41-1783D6F91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79" y="1379459"/>
            <a:ext cx="953861" cy="57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ownload Free Sql server Icons in PNG &amp; SVG">
            <a:extLst>
              <a:ext uri="{FF2B5EF4-FFF2-40B4-BE49-F238E27FC236}">
                <a16:creationId xmlns:a16="http://schemas.microsoft.com/office/drawing/2014/main" id="{9DC30027-6911-BEA9-2699-F20C123DD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34" y="2781010"/>
            <a:ext cx="610307" cy="69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adoop Distributed File System color icon in PNG, SVG">
            <a:extLst>
              <a:ext uri="{FF2B5EF4-FFF2-40B4-BE49-F238E27FC236}">
                <a16:creationId xmlns:a16="http://schemas.microsoft.com/office/drawing/2014/main" id="{90CF5CAC-0E28-BEA3-B38D-1AA966522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35" y="4036364"/>
            <a:ext cx="610307" cy="84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zure Azure Databricks Icon - Free SVG ...">
            <a:extLst>
              <a:ext uri="{FF2B5EF4-FFF2-40B4-BE49-F238E27FC236}">
                <a16:creationId xmlns:a16="http://schemas.microsoft.com/office/drawing/2014/main" id="{7B65C16F-3DD8-2699-C958-939ED2F1F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609" y="264821"/>
            <a:ext cx="516391" cy="51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Azure Blob Storage vs Azure Data Lake ...">
            <a:extLst>
              <a:ext uri="{FF2B5EF4-FFF2-40B4-BE49-F238E27FC236}">
                <a16:creationId xmlns:a16="http://schemas.microsoft.com/office/drawing/2014/main" id="{39D087AC-E431-1097-BE33-62CF40FFB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835" y="2619558"/>
            <a:ext cx="953861" cy="57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Azure Blob Storage vs Azure Data Lake ...">
            <a:extLst>
              <a:ext uri="{FF2B5EF4-FFF2-40B4-BE49-F238E27FC236}">
                <a16:creationId xmlns:a16="http://schemas.microsoft.com/office/drawing/2014/main" id="{3941BD33-4848-6297-2E14-E29F9726F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98" y="2619557"/>
            <a:ext cx="953861" cy="57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Azure Blob Storage vs Azure Data Lake ...">
            <a:extLst>
              <a:ext uri="{FF2B5EF4-FFF2-40B4-BE49-F238E27FC236}">
                <a16:creationId xmlns:a16="http://schemas.microsoft.com/office/drawing/2014/main" id="{8F81BC68-7B5F-8A26-C24A-A7BABF126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828" y="2619557"/>
            <a:ext cx="953861" cy="57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Ml Flow Wordmark Icon | Dashboard Icons">
            <a:extLst>
              <a:ext uri="{FF2B5EF4-FFF2-40B4-BE49-F238E27FC236}">
                <a16:creationId xmlns:a16="http://schemas.microsoft.com/office/drawing/2014/main" id="{5409DB36-641D-F4AB-C98A-271CEDA8A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98" y="1208463"/>
            <a:ext cx="1182461" cy="46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20571C-990F-D7F0-F261-CA900CFACF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4551" y="1045498"/>
            <a:ext cx="590580" cy="628682"/>
          </a:xfrm>
          <a:prstGeom prst="rect">
            <a:avLst/>
          </a:prstGeom>
        </p:spPr>
      </p:pic>
      <p:pic>
        <p:nvPicPr>
          <p:cNvPr id="1040" name="Picture 16" descr="Data Lake Store | Microsoft Azure Color">
            <a:extLst>
              <a:ext uri="{FF2B5EF4-FFF2-40B4-BE49-F238E27FC236}">
                <a16:creationId xmlns:a16="http://schemas.microsoft.com/office/drawing/2014/main" id="{687D7103-14D3-6227-6A9A-36BEE6989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044" y="3552716"/>
            <a:ext cx="483648" cy="483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Microsoft Power BI Logo and symbol ...">
            <a:extLst>
              <a:ext uri="{FF2B5EF4-FFF2-40B4-BE49-F238E27FC236}">
                <a16:creationId xmlns:a16="http://schemas.microsoft.com/office/drawing/2014/main" id="{E9DD1F2A-F395-C89F-D936-D4A70B399B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7264" y="1004030"/>
            <a:ext cx="1241617" cy="69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F777233-F218-8DE7-E1D6-AEAB949D8463}"/>
              </a:ext>
            </a:extLst>
          </p:cNvPr>
          <p:cNvCxnSpPr>
            <a:stCxn id="1028" idx="2"/>
            <a:endCxn id="8" idx="0"/>
          </p:cNvCxnSpPr>
          <p:nvPr/>
        </p:nvCxnSpPr>
        <p:spPr>
          <a:xfrm>
            <a:off x="4682765" y="1704781"/>
            <a:ext cx="1" cy="9147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57F3DB-26D8-CC60-EDBE-01D0B29724B1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5849128" y="1664638"/>
            <a:ext cx="1" cy="9549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3122D50-189F-05E6-797F-763BCA87F6E2}"/>
              </a:ext>
            </a:extLst>
          </p:cNvPr>
          <p:cNvCxnSpPr>
            <a:cxnSpLocks/>
          </p:cNvCxnSpPr>
          <p:nvPr/>
        </p:nvCxnSpPr>
        <p:spPr>
          <a:xfrm>
            <a:off x="7123698" y="1674180"/>
            <a:ext cx="1" cy="9549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4" name="Picture 20" descr="Azure Data Factories Icon - Free SVG ...">
            <a:extLst>
              <a:ext uri="{FF2B5EF4-FFF2-40B4-BE49-F238E27FC236}">
                <a16:creationId xmlns:a16="http://schemas.microsoft.com/office/drawing/2014/main" id="{8AD24461-6243-ECA9-10BA-5588EA7FE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702" y="2894884"/>
            <a:ext cx="657832" cy="65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Azure Machine Learning Icon - Free SVG ...">
            <a:extLst>
              <a:ext uri="{FF2B5EF4-FFF2-40B4-BE49-F238E27FC236}">
                <a16:creationId xmlns:a16="http://schemas.microsoft.com/office/drawing/2014/main" id="{0FB356A3-7240-AC3E-58F0-E8ED50B3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316" y="2904735"/>
            <a:ext cx="687515" cy="687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CE1D41B-0454-F261-EE7E-55652346563C}"/>
              </a:ext>
            </a:extLst>
          </p:cNvPr>
          <p:cNvSpPr/>
          <p:nvPr/>
        </p:nvSpPr>
        <p:spPr>
          <a:xfrm>
            <a:off x="208579" y="1240276"/>
            <a:ext cx="1065956" cy="372160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5F801A3-7B17-17E0-76D9-E934C8507E98}"/>
              </a:ext>
            </a:extLst>
          </p:cNvPr>
          <p:cNvSpPr/>
          <p:nvPr/>
        </p:nvSpPr>
        <p:spPr>
          <a:xfrm>
            <a:off x="4205835" y="2281446"/>
            <a:ext cx="3457581" cy="208024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C33603-1B95-8261-4BE2-A3CF1DF7D0AC}"/>
              </a:ext>
            </a:extLst>
          </p:cNvPr>
          <p:cNvCxnSpPr>
            <a:cxnSpLocks/>
          </p:cNvCxnSpPr>
          <p:nvPr/>
        </p:nvCxnSpPr>
        <p:spPr>
          <a:xfrm>
            <a:off x="1274535" y="3355848"/>
            <a:ext cx="1058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C34C5E-3BEE-F13E-8DEB-8A4F5B8203E3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921620" y="3321567"/>
            <a:ext cx="12842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0401727-DA7F-EB70-E5FF-204B1093E749}"/>
              </a:ext>
            </a:extLst>
          </p:cNvPr>
          <p:cNvSpPr/>
          <p:nvPr/>
        </p:nvSpPr>
        <p:spPr>
          <a:xfrm>
            <a:off x="4205835" y="114300"/>
            <a:ext cx="3457581" cy="196848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1EC11C-B00C-7FB2-7E67-902A182BF815}"/>
              </a:ext>
            </a:extLst>
          </p:cNvPr>
          <p:cNvCxnSpPr/>
          <p:nvPr/>
        </p:nvCxnSpPr>
        <p:spPr>
          <a:xfrm>
            <a:off x="7663416" y="3257337"/>
            <a:ext cx="24009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C9CEF1-A58E-06F9-720B-E842DFC19298}"/>
              </a:ext>
            </a:extLst>
          </p:cNvPr>
          <p:cNvCxnSpPr>
            <a:cxnSpLocks/>
          </p:cNvCxnSpPr>
          <p:nvPr/>
        </p:nvCxnSpPr>
        <p:spPr>
          <a:xfrm>
            <a:off x="7455131" y="1294115"/>
            <a:ext cx="26091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94EF2186-F5F7-4BAE-22A4-E34E9A32556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9281" y="4550098"/>
            <a:ext cx="700632" cy="542788"/>
          </a:xfrm>
          <a:prstGeom prst="rect">
            <a:avLst/>
          </a:prstGeom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A954A89B-0056-3ECA-FC76-BD8D71C4D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824" y="5723381"/>
            <a:ext cx="511749" cy="637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Azure Cost Management and Billing Icon ...">
            <a:extLst>
              <a:ext uri="{FF2B5EF4-FFF2-40B4-BE49-F238E27FC236}">
                <a16:creationId xmlns:a16="http://schemas.microsoft.com/office/drawing/2014/main" id="{872837B0-D61C-EC50-6F88-D29DEAFD3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7887" y="5723381"/>
            <a:ext cx="635011" cy="63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Azure Key Vaults Icon - Free SVG &amp; PNG ...">
            <a:extLst>
              <a:ext uri="{FF2B5EF4-FFF2-40B4-BE49-F238E27FC236}">
                <a16:creationId xmlns:a16="http://schemas.microsoft.com/office/drawing/2014/main" id="{2055DA86-90B5-E91A-5D0B-4F6513E6B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470" y="5723381"/>
            <a:ext cx="635011" cy="635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Azure Monitor Icon - Free SVG &amp; PNG ...">
            <a:extLst>
              <a:ext uri="{FF2B5EF4-FFF2-40B4-BE49-F238E27FC236}">
                <a16:creationId xmlns:a16="http://schemas.microsoft.com/office/drawing/2014/main" id="{32F88A17-AD5E-4169-F811-0282159E1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906" y="5610619"/>
            <a:ext cx="704296" cy="70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Azure Azure DevOps Icon - Free SVG ...">
            <a:extLst>
              <a:ext uri="{FF2B5EF4-FFF2-40B4-BE49-F238E27FC236}">
                <a16:creationId xmlns:a16="http://schemas.microsoft.com/office/drawing/2014/main" id="{C00EC8BA-FB33-DCA0-D2EB-97F66EC89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631" y="5616569"/>
            <a:ext cx="610308" cy="74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50CDC67-4BEC-DD3B-69CA-5D1EF086AB80}"/>
              </a:ext>
            </a:extLst>
          </p:cNvPr>
          <p:cNvSpPr txBox="1"/>
          <p:nvPr/>
        </p:nvSpPr>
        <p:spPr>
          <a:xfrm>
            <a:off x="4347778" y="3288188"/>
            <a:ext cx="6094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Bronze</a:t>
            </a:r>
            <a:endParaRPr lang="en-SG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DB9DD0-CA5B-E420-F926-44572D69BE8D}"/>
              </a:ext>
            </a:extLst>
          </p:cNvPr>
          <p:cNvSpPr txBox="1"/>
          <p:nvPr/>
        </p:nvSpPr>
        <p:spPr>
          <a:xfrm>
            <a:off x="5589281" y="3330640"/>
            <a:ext cx="5196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Silver</a:t>
            </a:r>
            <a:endParaRPr lang="en-SG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B1FC72-0CA7-CCBC-089B-D42D70D34E9F}"/>
              </a:ext>
            </a:extLst>
          </p:cNvPr>
          <p:cNvSpPr txBox="1"/>
          <p:nvPr/>
        </p:nvSpPr>
        <p:spPr>
          <a:xfrm>
            <a:off x="6847167" y="3352719"/>
            <a:ext cx="4780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Gold</a:t>
            </a:r>
            <a:endParaRPr lang="en-SG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744D4C-21B0-F2A3-F4E4-F57126040584}"/>
              </a:ext>
            </a:extLst>
          </p:cNvPr>
          <p:cNvSpPr txBox="1"/>
          <p:nvPr/>
        </p:nvSpPr>
        <p:spPr>
          <a:xfrm>
            <a:off x="4873492" y="4068221"/>
            <a:ext cx="8707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ADLS Gen2</a:t>
            </a:r>
            <a:endParaRPr lang="en-SG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0F45EF-0B75-E917-E43E-B32A372814A3}"/>
              </a:ext>
            </a:extLst>
          </p:cNvPr>
          <p:cNvSpPr txBox="1"/>
          <p:nvPr/>
        </p:nvSpPr>
        <p:spPr>
          <a:xfrm>
            <a:off x="6033222" y="4052054"/>
            <a:ext cx="8290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Delta Lake</a:t>
            </a:r>
            <a:endParaRPr lang="en-SG" sz="11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B9F23AA-6133-4559-A8FF-21DED69E0C37}"/>
              </a:ext>
            </a:extLst>
          </p:cNvPr>
          <p:cNvSpPr txBox="1"/>
          <p:nvPr/>
        </p:nvSpPr>
        <p:spPr>
          <a:xfrm>
            <a:off x="10034968" y="1844217"/>
            <a:ext cx="7168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Power BI</a:t>
            </a:r>
            <a:endParaRPr lang="en-SG" sz="11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F6374B-9193-E6BB-9691-3CF7570D6ADB}"/>
              </a:ext>
            </a:extLst>
          </p:cNvPr>
          <p:cNvSpPr txBox="1"/>
          <p:nvPr/>
        </p:nvSpPr>
        <p:spPr>
          <a:xfrm>
            <a:off x="10034967" y="3734946"/>
            <a:ext cx="7409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Azure ML</a:t>
            </a:r>
            <a:endParaRPr lang="en-SG" sz="11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2E798DE-893A-46FA-AE99-55EAE5340E5D}"/>
              </a:ext>
            </a:extLst>
          </p:cNvPr>
          <p:cNvSpPr txBox="1"/>
          <p:nvPr/>
        </p:nvSpPr>
        <p:spPr>
          <a:xfrm>
            <a:off x="5434327" y="5175804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Unity Catalog</a:t>
            </a:r>
            <a:endParaRPr lang="en-SG" sz="11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B61AD2-4F43-ADE4-91DA-3E6E22D592A3}"/>
              </a:ext>
            </a:extLst>
          </p:cNvPr>
          <p:cNvSpPr txBox="1"/>
          <p:nvPr/>
        </p:nvSpPr>
        <p:spPr>
          <a:xfrm>
            <a:off x="1182599" y="6445262"/>
            <a:ext cx="12795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Microsoft Entra ID</a:t>
            </a:r>
            <a:endParaRPr lang="en-SG" sz="11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8B8053-DE9E-9810-F7DA-FD75A6B30496}"/>
              </a:ext>
            </a:extLst>
          </p:cNvPr>
          <p:cNvSpPr txBox="1"/>
          <p:nvPr/>
        </p:nvSpPr>
        <p:spPr>
          <a:xfrm>
            <a:off x="3183802" y="6467034"/>
            <a:ext cx="1305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Cost Management</a:t>
            </a:r>
            <a:endParaRPr lang="en-SG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54D4AC7-628B-B520-07A9-DF27D1EE5A0A}"/>
              </a:ext>
            </a:extLst>
          </p:cNvPr>
          <p:cNvSpPr txBox="1"/>
          <p:nvPr/>
        </p:nvSpPr>
        <p:spPr>
          <a:xfrm>
            <a:off x="5644802" y="6439467"/>
            <a:ext cx="10182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Azure </a:t>
            </a:r>
            <a:r>
              <a:rPr lang="en-US" sz="1100" dirty="0" err="1"/>
              <a:t>Devops</a:t>
            </a:r>
            <a:endParaRPr lang="en-SG" sz="11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13B268-3CB4-150B-1616-7452CEDF1994}"/>
              </a:ext>
            </a:extLst>
          </p:cNvPr>
          <p:cNvSpPr txBox="1"/>
          <p:nvPr/>
        </p:nvSpPr>
        <p:spPr>
          <a:xfrm>
            <a:off x="7454861" y="6467034"/>
            <a:ext cx="1104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Azure Key vault</a:t>
            </a:r>
            <a:endParaRPr lang="en-SG" sz="11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6FA9A3-9001-007C-E5ED-819D1AE6CAD4}"/>
              </a:ext>
            </a:extLst>
          </p:cNvPr>
          <p:cNvSpPr txBox="1"/>
          <p:nvPr/>
        </p:nvSpPr>
        <p:spPr>
          <a:xfrm>
            <a:off x="9605189" y="6439467"/>
            <a:ext cx="10599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Azure Monitor </a:t>
            </a:r>
            <a:endParaRPr lang="en-SG" sz="11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FB8B2AC-A3E3-1DEE-A3A5-198F60E4F5FE}"/>
              </a:ext>
            </a:extLst>
          </p:cNvPr>
          <p:cNvSpPr/>
          <p:nvPr/>
        </p:nvSpPr>
        <p:spPr>
          <a:xfrm>
            <a:off x="1083128" y="5498143"/>
            <a:ext cx="10025743" cy="1230502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E7A58CA-B0E5-A60B-E9F8-03603AE69B4C}"/>
              </a:ext>
            </a:extLst>
          </p:cNvPr>
          <p:cNvSpPr/>
          <p:nvPr/>
        </p:nvSpPr>
        <p:spPr>
          <a:xfrm>
            <a:off x="9605189" y="781211"/>
            <a:ext cx="1515805" cy="337713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606DCD-953B-BFED-29A9-D30C1AD2C03B}"/>
              </a:ext>
            </a:extLst>
          </p:cNvPr>
          <p:cNvSpPr txBox="1"/>
          <p:nvPr/>
        </p:nvSpPr>
        <p:spPr>
          <a:xfrm>
            <a:off x="5283562" y="785684"/>
            <a:ext cx="12202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Azure Databricks</a:t>
            </a:r>
            <a:endParaRPr lang="en-SG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DA4513-7C8D-102A-ABE0-D77CF6FEB434}"/>
              </a:ext>
            </a:extLst>
          </p:cNvPr>
          <p:cNvSpPr txBox="1"/>
          <p:nvPr/>
        </p:nvSpPr>
        <p:spPr>
          <a:xfrm>
            <a:off x="6736302" y="393871"/>
            <a:ext cx="10659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Azure </a:t>
            </a:r>
            <a:r>
              <a:rPr lang="en-US" sz="1100" dirty="0" err="1"/>
              <a:t>databricks</a:t>
            </a:r>
            <a:r>
              <a:rPr lang="en-US" sz="1100" dirty="0"/>
              <a:t> SQL Endpoint</a:t>
            </a:r>
            <a:endParaRPr lang="en-SG" sz="1100" dirty="0"/>
          </a:p>
        </p:txBody>
      </p:sp>
    </p:spTree>
    <p:extLst>
      <p:ext uri="{BB962C8B-B14F-4D97-AF65-F5344CB8AC3E}">
        <p14:creationId xmlns:p14="http://schemas.microsoft.com/office/powerpoint/2010/main" val="111974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Arijit-AD Datta</dc:creator>
  <cp:lastModifiedBy>Arijit-AD Datta</cp:lastModifiedBy>
  <cp:revision>2</cp:revision>
  <dcterms:created xsi:type="dcterms:W3CDTF">2026-02-07T05:30:18Z</dcterms:created>
  <dcterms:modified xsi:type="dcterms:W3CDTF">2026-02-07T06:03:19Z</dcterms:modified>
</cp:coreProperties>
</file>